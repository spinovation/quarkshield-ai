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SLIDE 1  •  THE BURNING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Burning Platform: Why Cryptography Must Change Now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Adversaries are collecting encrypted traffic today. Statutory federal deadlines are already in motion.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66360" cy="2468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F87171"/>
                </a:solidFill>
                <a:latin typeface="Arial"/>
              </a:defRPr>
            </a:pPr>
            <a:r>
              <a:t>Active Threat: Harvest Now, Decrypt Later (HNDL)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Active Collection Today: </a:t>
            </a:r>
            <a:r>
              <a:rPr sz="1000">
                <a:solidFill>
                  <a:srgbClr val="94A3B8"/>
                </a:solidFill>
              </a:rPr>
              <a:t>Hostile nation-states and foreign intelligence services are systematically harvesting and archiving encrypted enterprise, defense, and government communications over public internet circuits.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Retroactive Decryption: </a:t>
            </a:r>
            <a:r>
              <a:rPr sz="1000">
                <a:solidFill>
                  <a:srgbClr val="94A3B8"/>
                </a:solidFill>
              </a:rPr>
              <a:t>When Cryptanalytically Relevant Quantum Computers (CRQCs) arrive, all intercepted historical traffic will be decrypted simultaneously—compromising intellectual property, state secrets, and credentials.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Zero Forward Secrecy: </a:t>
            </a:r>
            <a:r>
              <a:rPr sz="1000">
                <a:solidFill>
                  <a:srgbClr val="94A3B8"/>
                </a:solidFill>
              </a:rPr>
              <a:t>Traditional RSA and Diffie-Hellman ephemeral handshakes offer zero retroactive protection against future quantum cryptanalysis.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166360" cy="2468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FBBF24"/>
                </a:solidFill>
                <a:latin typeface="Arial"/>
              </a:defRPr>
            </a:pPr>
            <a:r>
              <a:t>Mandatory Federal Standards &amp; Deadlines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NSM-10 &amp; CNSA 2.0 Mandate: </a:t>
            </a:r>
            <a:r>
              <a:rPr sz="1000">
                <a:solidFill>
                  <a:srgbClr val="94A3B8"/>
                </a:solidFill>
              </a:rPr>
              <a:t>New National Security Systems (NSS) must deploy post-quantum algorithms by January 1, 2027.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White House OMB M-23-02: </a:t>
            </a:r>
            <a:r>
              <a:rPr sz="1000">
                <a:solidFill>
                  <a:srgbClr val="94A3B8"/>
                </a:solidFill>
              </a:rPr>
              <a:t>Annual Cryptographic Bill of Materials (CBOM) inventory is now legally mandatory for all federal agencies and defense industrial base contractors.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Full Deprecation Deadline (2030): </a:t>
            </a:r>
            <a:r>
              <a:rPr sz="1000">
                <a:solidFill>
                  <a:srgbClr val="94A3B8"/>
                </a:solidFill>
              </a:rPr>
              <a:t>Complete global phaseout of classical public key cryptography across web, cloud, and edge infrastructure.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5166360" cy="1737360"/>
          </a:xfrm>
          <a:prstGeom prst="roundRect">
            <a:avLst/>
          </a:prstGeom>
          <a:solidFill>
            <a:srgbClr val="0B1324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400"/>
              </a:spcAft>
              <a:defRPr b="1" sz="1100">
                <a:solidFill>
                  <a:srgbClr val="00F2FE"/>
                </a:solidFill>
                <a:latin typeface="Arial"/>
              </a:defRPr>
            </a:pPr>
            <a:r>
              <a:t>🎯 CISO Strategic Hook</a:t>
            </a:r>
          </a:p>
          <a:p>
            <a:pPr>
              <a:defRPr i="1" sz="1050">
                <a:solidFill>
                  <a:srgbClr val="FFFFFF"/>
                </a:solidFill>
                <a:latin typeface="Arial"/>
              </a:defRPr>
            </a:pPr>
            <a:r>
              <a:t>"This is already an active collection campaign, not a future risk. The adversary is storing your encrypted keys and data today. If you wait until the quantum computer is built, your secrets are already lost."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526280"/>
            <a:ext cx="5166360" cy="1737360"/>
          </a:xfrm>
          <a:prstGeom prst="roundRect">
            <a:avLst/>
          </a:prstGeom>
          <a:solidFill>
            <a:srgbClr val="0B13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400"/>
              </a:spcAft>
              <a:defRPr b="1" sz="1100">
                <a:solidFill>
                  <a:srgbClr val="C084FC"/>
                </a:solidFill>
                <a:latin typeface="Arial"/>
              </a:defRPr>
            </a:pPr>
            <a:r>
              <a:t>🎯 CIO Operational Hook</a:t>
            </a:r>
          </a:p>
          <a:p>
            <a:pPr>
              <a:defRPr i="1" sz="1050">
                <a:solidFill>
                  <a:srgbClr val="FFFFFF"/>
                </a:solidFill>
                <a:latin typeface="Arial"/>
              </a:defRPr>
            </a:pPr>
            <a:r>
              <a:t>"Your next audit cycle will ask for an authoritative Post-Quantum Cryptographic (PQC) inventory. Do you have one? If you cannot inventory your cryptographic assets, you cannot defend or migrate them."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SLIDE 2  •  VULNERABILITY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Your Current Exposure: The Invisible Cryptographic Debt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Vulnerability scanners look for software versions, but are completely blind to mathematical key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F87171"/>
                </a:solidFill>
                <a:latin typeface="Arial"/>
              </a:defRPr>
            </a:pPr>
            <a:r>
              <a:t>Vector 1: The Quantum Threat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RSA Factorization: </a:t>
            </a:r>
            <a:r>
              <a:rPr sz="1000">
                <a:solidFill>
                  <a:srgbClr val="94A3B8"/>
                </a:solidFill>
              </a:rPr>
              <a:t>RSA-2048 and RSA-4096 rely on prime integer factorization—completely breakable in polynomial time by Shor's algorithm.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Elliptic Curve Collapse: </a:t>
            </a:r>
            <a:r>
              <a:rPr sz="1000">
                <a:solidFill>
                  <a:srgbClr val="94A3B8"/>
                </a:solidFill>
              </a:rPr>
              <a:t>ECDSA (P-256/secp256k1) and Diffie-Hellman fall even faster (~2,300 logical qubits needed).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Pervasive in Production: </a:t>
            </a:r>
            <a:r>
              <a:rPr sz="1000">
                <a:solidFill>
                  <a:srgbClr val="94A3B8"/>
                </a:solidFill>
              </a:rPr>
              <a:t>RSA and ECC underpin 99% of your TLS certificates, SSH keys, VPN gateways, and JWT API tokens right now.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Harvested Traffic: </a:t>
            </a:r>
            <a:r>
              <a:rPr sz="1000">
                <a:solidFill>
                  <a:srgbClr val="94A3B8"/>
                </a:solidFill>
              </a:rPr>
              <a:t>Decrypted retroactively without alerts or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FBBF24"/>
                </a:solidFill>
                <a:latin typeface="Arial"/>
              </a:defRPr>
            </a:pPr>
            <a:r>
              <a:t>Vector 2: Personal Risk Test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Quantify Personally: </a:t>
            </a:r>
            <a:r>
              <a:rPr sz="1000">
                <a:solidFill>
                  <a:srgbClr val="94A3B8"/>
                </a:solidFill>
              </a:rPr>
              <a:t>"How many certificates expire in 2026? How many SSH keys are under 2048 bits? You probably don't know. That's the problem."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The Blindspot Reality: </a:t>
            </a:r>
            <a:r>
              <a:rPr sz="1000">
                <a:solidFill>
                  <a:srgbClr val="94A3B8"/>
                </a:solidFill>
              </a:rPr>
              <a:t>Most CISOs and IT Directors manage thousands of endpoints and repos with zero visibility into algorithm parameters.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Shadow Cryptography: </a:t>
            </a:r>
            <a:r>
              <a:rPr sz="1000">
                <a:solidFill>
                  <a:srgbClr val="94A3B8"/>
                </a:solidFill>
              </a:rPr>
              <a:t>Cryptographic keys accumulate in developer laptops, `.ssh` directories, and unmanaged cloud instances.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Audit Vulnerability: </a:t>
            </a:r>
            <a:r>
              <a:rPr sz="1000">
                <a:solidFill>
                  <a:srgbClr val="94A3B8"/>
                </a:solidFill>
              </a:rPr>
              <a:t>Zero audit trail for cryptographic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0F2FE"/>
                </a:solidFill>
                <a:latin typeface="Arial"/>
              </a:defRPr>
            </a:pPr>
            <a:r>
              <a:t>Vector 3: Legacy Scanner Blindspot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What Legacy Scanners Do: </a:t>
            </a:r>
            <a:r>
              <a:rPr sz="1000">
                <a:solidFill>
                  <a:srgbClr val="94A3B8"/>
                </a:solidFill>
              </a:rPr>
              <a:t>Tenable, Qualys, and Rapid7 check CVE databases and port numbers; they flag expired SSL certificates.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What They Miss: </a:t>
            </a:r>
            <a:r>
              <a:rPr sz="1000">
                <a:solidFill>
                  <a:srgbClr val="94A3B8"/>
                </a:solidFill>
              </a:rPr>
              <a:t>They completely miss mathematical key risk: algorithm family, key bit-length, elliptic curve, and hybrid KEM readiness.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The QuarkShield Gap: </a:t>
            </a:r>
            <a:r>
              <a:rPr sz="1000">
                <a:solidFill>
                  <a:srgbClr val="94A3B8"/>
                </a:solidFill>
              </a:rPr>
              <a:t>QuarkShield delivers deep cryptographic AST inspection and automated CycloneDX 1.6 CBOM discovery.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Actionable Readiness: </a:t>
            </a:r>
            <a:r>
              <a:rPr sz="1000">
                <a:solidFill>
                  <a:srgbClr val="94A3B8"/>
                </a:solidFill>
              </a:rPr>
              <a:t>Pinpoints exact NIST FIPS 203/204 migration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SLIDE 3  •  THE SOLUTION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What QuarkShield Does: 4-Phase PQC Migration Pipeline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A structured, automated framework taking organizations from cryptographic blindness to verified agility.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146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0F2FE"/>
                </a:solidFill>
                <a:latin typeface="Arial"/>
              </a:defRPr>
            </a:pPr>
            <a:r>
              <a:t>1. Discover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Zero-Touch Discovery: </a:t>
            </a:r>
            <a:r>
              <a:rPr sz="1000">
                <a:solidFill>
                  <a:srgbClr val="94A3B8"/>
                </a:solidFill>
              </a:rPr>
              <a:t>Continuous automated crawling across endpoints, servers, and cloud instances.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Multi-Vector Scope: </a:t>
            </a:r>
            <a:r>
              <a:rPr sz="1000">
                <a:solidFill>
                  <a:srgbClr val="94A3B8"/>
                </a:solidFill>
              </a:rPr>
              <a:t>Windows CAPI, macOS Keychain, Linux trust stores, remote Git repos, and TLS sockets.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Deep Inventory: </a:t>
            </a:r>
            <a:r>
              <a:rPr sz="1000">
                <a:solidFill>
                  <a:srgbClr val="94A3B8"/>
                </a:solidFill>
              </a:rPr>
              <a:t>Discovers certificates, private keys, SSH keys, VPN configs, and code invocations.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Live CBOM: </a:t>
            </a:r>
            <a:r>
              <a:rPr sz="1000">
                <a:solidFill>
                  <a:srgbClr val="94A3B8"/>
                </a:solidFill>
              </a:rPr>
              <a:t>Automated baseline CycloneDX 1.6 Cryptographic Bill of Materials in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828800"/>
            <a:ext cx="25146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FBBF24"/>
                </a:solidFill>
                <a:latin typeface="Arial"/>
              </a:defRPr>
            </a:pPr>
            <a:r>
              <a:t>2. Prioritize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Mosca's Theorem Engine: </a:t>
            </a:r>
            <a:r>
              <a:rPr sz="1000">
                <a:solidFill>
                  <a:srgbClr val="94A3B8"/>
                </a:solidFill>
              </a:rPr>
              <a:t>Calculates exact exposure dates using mathematical S+Y&gt;Z formulation.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Urgency Score (0–100): </a:t>
            </a:r>
            <a:r>
              <a:rPr sz="1000">
                <a:solidFill>
                  <a:srgbClr val="94A3B8"/>
                </a:solidFill>
              </a:rPr>
              <a:t>Dynamic mathematical urgency score assigned to every asset and host.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Expiring RSA Certs: </a:t>
            </a:r>
            <a:r>
              <a:rPr sz="1000">
                <a:solidFill>
                  <a:srgbClr val="94A3B8"/>
                </a:solidFill>
              </a:rPr>
              <a:t>Pinpoints upcoming renewal windows for post-quantum replacement.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Crown Jewel Triage: </a:t>
            </a:r>
            <a:r>
              <a:rPr sz="1000">
                <a:solidFill>
                  <a:srgbClr val="94A3B8"/>
                </a:solidFill>
              </a:rPr>
              <a:t>Prioritizes long-lifespan data exposed to active HNDL collection.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828800"/>
            <a:ext cx="25146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3. Inoculate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Hybrid TLS 1.3 Ingress: </a:t>
            </a:r>
            <a:r>
              <a:rPr sz="1000">
                <a:solidFill>
                  <a:srgbClr val="94A3B8"/>
                </a:solidFill>
              </a:rPr>
              <a:t>Deploys X25519MLKEM768 key exchange on outward-facing web gateways.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Dual-Cert Infrastructure: </a:t>
            </a:r>
            <a:r>
              <a:rPr sz="1000">
                <a:solidFill>
                  <a:srgbClr val="94A3B8"/>
                </a:solidFill>
              </a:rPr>
              <a:t>Maintains backward compatibility while introducing quantum-safe roots.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QS Copilot Fix Code: </a:t>
            </a:r>
            <a:r>
              <a:rPr sz="1000">
                <a:solidFill>
                  <a:srgbClr val="94A3B8"/>
                </a:solidFill>
              </a:rPr>
              <a:t>Generates verified drop-in code snippets for ML-KEM-768 and ML-DSA-65.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SSH &amp; VPN Upgrades: </a:t>
            </a:r>
            <a:r>
              <a:rPr sz="1000">
                <a:solidFill>
                  <a:srgbClr val="94A3B8"/>
                </a:solidFill>
              </a:rPr>
              <a:t>Enforces post-quantum key exchange in OpenSSH 9.0+ and WireGuard.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828800"/>
            <a:ext cx="25146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C084FC"/>
                </a:solidFill>
                <a:latin typeface="Arial"/>
              </a:defRPr>
            </a:pPr>
            <a:r>
              <a:t>4. Govern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Continuous Fleet Monitor: </a:t>
            </a:r>
            <a:r>
              <a:rPr sz="1000">
                <a:solidFill>
                  <a:srgbClr val="94A3B8"/>
                </a:solidFill>
              </a:rPr>
              <a:t>Detects newly introduced weak ciphers and unauthorized keys in real time.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OPA / Rego Policy Gates: </a:t>
            </a:r>
            <a:r>
              <a:rPr sz="1000">
                <a:solidFill>
                  <a:srgbClr val="94A3B8"/>
                </a:solidFill>
              </a:rPr>
              <a:t>Automated policy-as-code enforcement in CI/CD developer pipelines.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Auditor Evidence Package: </a:t>
            </a:r>
            <a:r>
              <a:rPr sz="1000">
                <a:solidFill>
                  <a:srgbClr val="94A3B8"/>
                </a:solidFill>
              </a:rPr>
              <a:t>Live compliance documentation for CNSA 2.0, OMB M-23-02, and CMMC.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Cryptographic Agility: </a:t>
            </a:r>
            <a:r>
              <a:rPr sz="1000">
                <a:solidFill>
                  <a:srgbClr val="94A3B8"/>
                </a:solidFill>
              </a:rPr>
              <a:t>Seamlessly upgrade algorithms as NIST standards evolve.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SLIDE 4  • 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How It Works: Discovery Engines + Intelligence Layer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Two complementary tiers delivering zero-knowledge telemetry and automated governance.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6636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0F2FE"/>
                </a:solidFill>
                <a:latin typeface="Arial"/>
              </a:defRPr>
            </a:pPr>
            <a:r>
              <a:t>Tier 1: Multi-Platform Discovery Engines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Cross-Platform Host Agent: </a:t>
            </a:r>
            <a:r>
              <a:rPr sz="1000">
                <a:solidFill>
                  <a:srgbClr val="94A3B8"/>
                </a:solidFill>
              </a:rPr>
              <a:t>Native binaries for Windows (CAPI/CNG), macOS (Keychain), and Linux (OpenSSL/NSS). Lightweight, signed, zero kernel drivers, zero reboot required.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Remote Git &amp; DevOps Connectors: </a:t>
            </a:r>
            <a:r>
              <a:rPr sz="1000">
                <a:solidFill>
                  <a:srgbClr val="94A3B8"/>
                </a:solidFill>
              </a:rPr>
              <a:t>Direct scanning for GitHub, Bitbucket, and GitLab via PAT or App Passwords. Ephemeral shallow clone in RAM/tmpfs; auto-wiped upon completion.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Agentless Outbound TLS Prober: </a:t>
            </a:r>
            <a:r>
              <a:rPr sz="1000">
                <a:solidFill>
                  <a:srgbClr val="94A3B8"/>
                </a:solidFill>
              </a:rPr>
              <a:t>Probes remote endpoints, domains, and microservices for hybrid X25519MLKEM768 key exchange without installing host agents.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Zero-Knowledge Local Inspection: </a:t>
            </a:r>
            <a:r>
              <a:rPr sz="1000">
                <a:solidFill>
                  <a:srgbClr val="94A3B8"/>
                </a:solidFill>
              </a:rPr>
              <a:t>Cryptographic analysis occurs in local volatile memory. Private keys and decrypted secrets NEVER leave your host or network boundary.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16636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C084FC"/>
                </a:solidFill>
                <a:latin typeface="Arial"/>
              </a:defRPr>
            </a:pPr>
            <a:r>
              <a:t>Tier 2: Central Intelligence Layer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Cloud Fleet Central Plane: </a:t>
            </a:r>
            <a:r>
              <a:rPr sz="1000">
                <a:solidFill>
                  <a:srgbClr val="94A3B8"/>
                </a:solidFill>
              </a:rPr>
              <a:t>Centralized multi-tenant management plane aggregating telemetry, risk scores, and cryptographic asset lifecycles.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Live Cryptographic CBOM: </a:t>
            </a:r>
            <a:r>
              <a:rPr sz="1000">
                <a:solidFill>
                  <a:srgbClr val="94A3B8"/>
                </a:solidFill>
              </a:rPr>
              <a:t>CycloneDX 1.6 standardized inventory capturing algorithm, key length, curve, owner, host, and compliance gaps.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OPA / Rego Policy-as-Code: </a:t>
            </a:r>
            <a:r>
              <a:rPr sz="1000">
                <a:solidFill>
                  <a:srgbClr val="94A3B8"/>
                </a:solidFill>
              </a:rPr>
              <a:t>Automated security policy enforcement mapped directly to CNSA 2.0, EO 14028, and NIST SP 800-219.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Mosca Urgency Scoring (0–100): </a:t>
            </a:r>
            <a:r>
              <a:rPr sz="1000">
                <a:solidFill>
                  <a:srgbClr val="94A3B8"/>
                </a:solidFill>
              </a:rPr>
              <a:t>Quantifies mathematically when data lifespan exceeds remaining classical crypto security.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QS Copilot AI Advisor: </a:t>
            </a:r>
            <a:r>
              <a:rPr sz="1000">
                <a:solidFill>
                  <a:srgbClr val="94A3B8"/>
                </a:solidFill>
              </a:rPr>
              <a:t>Offline-capable AI remediation engine generating verified post-quantum drop-in replacement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0B13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400"/>
              </a:spcAft>
              <a:defRPr b="1" sz="1100">
                <a:solidFill>
                  <a:srgbClr val="34D399"/>
                </a:solidFill>
                <a:latin typeface="Arial"/>
              </a:defRPr>
            </a:pPr>
            <a:r>
              <a:t>🏛️ CISO Message</a:t>
            </a:r>
          </a:p>
          <a:p>
            <a:pPr>
              <a:defRPr i="1" sz="1050">
                <a:solidFill>
                  <a:srgbClr val="FFFFFF"/>
                </a:solidFill>
                <a:latin typeface="Arial"/>
              </a:defRPr>
            </a:pPr>
            <a:r>
              <a:t>"Your ISSO gets a live audit trail. Your Authorizing Official (AO) gets evidence. No manual spreadsheets, no guesswork."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SLIDE 5  •  PRODUCTION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Live Platform: The Crypto CBOM &amp; QS Copilot in Action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"This is running in production right now at https://quarkshield.ai."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66360" cy="3931920"/>
          </a:xfrm>
          <a:prstGeom prst="roundRect">
            <a:avLst/>
          </a:prstGeom>
          <a:solidFill>
            <a:srgbClr val="0A1222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0F2FE"/>
                </a:solidFill>
                <a:latin typeface="Arial"/>
              </a:defRPr>
            </a:pPr>
            <a:r>
              <a:t>1. Live Cryptographic CBOM Explorer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Live Production Feed: </a:t>
            </a:r>
            <a:r>
              <a:rPr sz="1000">
                <a:solidFill>
                  <a:srgbClr val="94A3B8"/>
                </a:solidFill>
              </a:rPr>
              <a:t>Continuously ingests cryptographic assets from Windows, Mac, Linux, Git repos, and TLS sockets.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Algorithm &amp; Parameter Discovery: </a:t>
            </a:r>
            <a:r>
              <a:rPr sz="1000">
                <a:solidFill>
                  <a:srgbClr val="94A3B8"/>
                </a:solidFill>
              </a:rPr>
              <a:t>Catalogs RSA-2048/4096, ECDSA (P-256/384), ML-KEM-768, and ML-DSA-65.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Automated Vulnerability Tagging: </a:t>
            </a:r>
            <a:r>
              <a:rPr sz="1000">
                <a:solidFill>
                  <a:srgbClr val="94A3B8"/>
                </a:solidFill>
              </a:rPr>
              <a:t>Flags Shor's algorithm integer factoring and discrete log vulnerabilities.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Standardized CycloneDX 1.6 JSON: </a:t>
            </a:r>
            <a:r>
              <a:rPr sz="1000">
                <a:solidFill>
                  <a:srgbClr val="94A3B8"/>
                </a:solidFill>
              </a:rPr>
              <a:t>1-click export formatted for federal auditor and compliance ingestion.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97880"/>
            <a:ext cx="5166360" cy="594360"/>
          </a:xfrm>
          <a:prstGeom prst="roundRect">
            <a:avLst/>
          </a:prstGeom>
          <a:solidFill>
            <a:srgbClr val="0B1324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400"/>
              </a:spcAft>
              <a:defRPr b="1" sz="1100">
                <a:solidFill>
                  <a:srgbClr val="00F2FE"/>
                </a:solidFill>
                <a:latin typeface="Arial"/>
              </a:defRPr>
            </a:pPr>
            <a:r>
              <a:t>📸 CBOM Explorer Live Telemetry</a:t>
            </a:r>
          </a:p>
          <a:p>
            <a:pPr>
              <a:defRPr i="1" sz="1050">
                <a:solidFill>
                  <a:srgbClr val="FFFFFF"/>
                </a:solidFill>
                <a:latin typeface="Arial"/>
              </a:defRPr>
            </a:pPr>
            <a:r>
              <a:t>"Every key, certificate, and algorithm — risk-scored and mapped to CNSA 2.0 compliance status."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166360" cy="3931920"/>
          </a:xfrm>
          <a:prstGeom prst="roundRect">
            <a:avLst/>
          </a:prstGeom>
          <a:solidFill>
            <a:srgbClr val="0A181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2. QS Copilot: AI Remediation Advisor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1-Click Vulnerability Remediation: </a:t>
            </a:r>
            <a:r>
              <a:rPr sz="1000">
                <a:solidFill>
                  <a:srgbClr val="94A3B8"/>
                </a:solidFill>
              </a:rPr>
              <a:t>Select any vulnerable asset to immediately generate working, tested code fixes.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NIST FIPS 203/204 Drop-In Code: </a:t>
            </a:r>
            <a:r>
              <a:rPr sz="1000">
                <a:solidFill>
                  <a:srgbClr val="94A3B8"/>
                </a:solidFill>
              </a:rPr>
              <a:t>Produces implementation code for ML-KEM-768 key encapsulation and ML-DSA-65 signatures.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Multi-Language Support: </a:t>
            </a:r>
            <a:r>
              <a:rPr sz="1000">
                <a:solidFill>
                  <a:srgbClr val="94A3B8"/>
                </a:solidFill>
              </a:rPr>
              <a:t>Ready-to-deploy playbooks in Python, Java (Spring Boot), Go, TypeScript, and Rust.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100% Air-Gapped / SCIF Ready: </a:t>
            </a:r>
            <a:r>
              <a:rPr sz="1000">
                <a:solidFill>
                  <a:srgbClr val="94A3B8"/>
                </a:solidFill>
              </a:rPr>
              <a:t>Runs fully offline on isolated networks without external cloud or API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5897880"/>
            <a:ext cx="5166360" cy="594360"/>
          </a:xfrm>
          <a:prstGeom prst="roundRect">
            <a:avLst/>
          </a:prstGeom>
          <a:solidFill>
            <a:srgbClr val="0B13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400"/>
              </a:spcAft>
              <a:defRPr b="1" sz="1100">
                <a:solidFill>
                  <a:srgbClr val="34D399"/>
                </a:solidFill>
                <a:latin typeface="Arial"/>
              </a:defRPr>
            </a:pPr>
            <a:r>
              <a:t>📸 QS Copilot Remediation Engine</a:t>
            </a:r>
          </a:p>
          <a:p>
            <a:pPr>
              <a:defRPr i="1" sz="1050">
                <a:solidFill>
                  <a:srgbClr val="FFFFFF"/>
                </a:solidFill>
                <a:latin typeface="Arial"/>
              </a:defRPr>
            </a:pPr>
            <a:r>
              <a:t>"Click on a vulnerable asset — Copilot generates working fix code your engineer deploys today."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SLIDE 6  •  CORE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What Makes QuarkShield Different: Unique Selling Proposition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Three core differentiators that separate QuarkShield from legacy scanners and manual consulting.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0F2FE"/>
                </a:solidFill>
                <a:latin typeface="Arial"/>
              </a:defRPr>
            </a:pPr>
            <a:r>
              <a:t>1. Mosca's Theorem Engine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Mathematical Risk, Not Guesses: </a:t>
            </a:r>
            <a:r>
              <a:rPr sz="1000">
                <a:solidFill>
                  <a:srgbClr val="94A3B8"/>
                </a:solidFill>
              </a:rPr>
              <a:t>"We don't tell you you're 'at risk.' We calculate the exact date you'll be exposed using Mosca's Theorem: S + Y &gt; Z."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S (Shelf Life): </a:t>
            </a:r>
            <a:r>
              <a:rPr sz="1000">
                <a:solidFill>
                  <a:srgbClr val="94A3B8"/>
                </a:solidFill>
              </a:rPr>
              <a:t>How long sensitive records, intellectual property, or classified data must remain secure (e.g. 15–30 years).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Y (Migration Time): </a:t>
            </a:r>
            <a:r>
              <a:rPr sz="1000">
                <a:solidFill>
                  <a:srgbClr val="94A3B8"/>
                </a:solidFill>
              </a:rPr>
              <a:t>How long your enterprise infrastructure takes to re-key and deploy PQC (e.g. 3–5 years).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Z (Quantum Arrival): </a:t>
            </a:r>
            <a:r>
              <a:rPr sz="1000">
                <a:solidFill>
                  <a:srgbClr val="94A3B8"/>
                </a:solidFill>
              </a:rPr>
              <a:t>Years until adversaries possess a cryptanalytically relevant quantum computer (~2029–2030).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Urgency Score (0–100): </a:t>
            </a:r>
            <a:r>
              <a:rPr sz="1000">
                <a:solidFill>
                  <a:srgbClr val="94A3B8"/>
                </a:solidFill>
              </a:rPr>
              <a:t>Dynamic mathematical score prioritizing engineering spend.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C084FC"/>
                </a:solidFill>
                <a:latin typeface="Arial"/>
              </a:defRPr>
            </a:pPr>
            <a:r>
              <a:t>2. 100% Offline AI Advisor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SCIF &amp; Air-Gapped Operation: </a:t>
            </a:r>
            <a:r>
              <a:rPr sz="1000">
                <a:solidFill>
                  <a:srgbClr val="94A3B8"/>
                </a:solidFill>
              </a:rPr>
              <a:t>"QS Copilot works in a SCIF. Air-gapped defense networks get the same AI-driven fix code. No cloud dependency."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Zero Cloud Exfiltration: </a:t>
            </a:r>
            <a:r>
              <a:rPr sz="1000">
                <a:solidFill>
                  <a:srgbClr val="94A3B8"/>
                </a:solidFill>
              </a:rPr>
              <a:t>Eliminates data leakage and security classification violations associated with commercial SaaS AI tools.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Deterministic Code Generation: </a:t>
            </a:r>
            <a:r>
              <a:rPr sz="1000">
                <a:solidFill>
                  <a:srgbClr val="94A3B8"/>
                </a:solidFill>
              </a:rPr>
              <a:t>Produces verified, compilable code using NIST FIPS 203/204 algorithms.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Built for Defense &amp; Intelligence: </a:t>
            </a:r>
            <a:r>
              <a:rPr sz="1000">
                <a:solidFill>
                  <a:srgbClr val="94A3B8"/>
                </a:solidFill>
              </a:rPr>
              <a:t>Designed for isolated enclaves, military systems, and sovereign clouds.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3. Time vs. Alternatives (90% Cost Cut)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Manual PQC Audit Reality: </a:t>
            </a:r>
            <a:r>
              <a:rPr sz="1000">
                <a:solidFill>
                  <a:srgbClr val="94A3B8"/>
                </a:solidFill>
              </a:rPr>
              <a:t>Manual consulting audits take 3–6 months and cost $50,000–$500,000 in expensive professional services billing.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Static Decay: </a:t>
            </a:r>
            <a:r>
              <a:rPr sz="1000">
                <a:solidFill>
                  <a:srgbClr val="94A3B8"/>
                </a:solidFill>
              </a:rPr>
              <a:t>Spreadsheets are stale the day they are delivered; they cannot detect newly introduced shadow certificates.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QuarkShield Speed: </a:t>
            </a:r>
            <a:r>
              <a:rPr sz="1000">
                <a:solidFill>
                  <a:srgbClr val="94A3B8"/>
                </a:solidFill>
              </a:rPr>
              <a:t>Automates discovery and baseline CBOM generation in under 2 hours.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Continuous Defense: </a:t>
            </a:r>
            <a:r>
              <a:rPr sz="1000">
                <a:solidFill>
                  <a:srgbClr val="94A3B8"/>
                </a:solidFill>
              </a:rPr>
              <a:t>Continuous automated monitoring at a fraction of consulting costs.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SLIDE 7  •  EXECUTIVE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Compliance &amp; Governance: Built Specifically for the CISO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When your auditor asks for your PQC posture in 2026, this is your complete evidence package.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6636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0F2FE"/>
                </a:solidFill>
                <a:latin typeface="Arial"/>
              </a:defRPr>
            </a:pPr>
            <a:r>
              <a:t>Federal &amp; Defense Standards Directly Mapped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NSA CNSA 2.0: </a:t>
            </a:r>
            <a:r>
              <a:rPr sz="1000">
                <a:solidFill>
                  <a:srgbClr val="94A3B8"/>
                </a:solidFill>
              </a:rPr>
              <a:t>Mandatory transition milestones for National Security Systems across firmware, networking, web gateways, and operating systems.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White House OMB M-23-02 &amp; NSM-10: </a:t>
            </a:r>
            <a:r>
              <a:rPr sz="1000">
                <a:solidFill>
                  <a:srgbClr val="94A3B8"/>
                </a:solidFill>
              </a:rPr>
              <a:t>Annual cryptographic inventory and automated CBOM reporting requirements for all agencies and defense contractors.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Executive Order 14028: </a:t>
            </a:r>
            <a:r>
              <a:rPr sz="1000">
                <a:solidFill>
                  <a:srgbClr val="94A3B8"/>
                </a:solidFill>
              </a:rPr>
              <a:t>Improving the Nation's Cybersecurity: software supply chain security and cryptographic verification.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NIST SP 800-219 &amp; SP 800-208: </a:t>
            </a:r>
            <a:r>
              <a:rPr sz="1000">
                <a:solidFill>
                  <a:srgbClr val="94A3B8"/>
                </a:solidFill>
              </a:rPr>
              <a:t>Quantum readiness roadmap and stateful hash-based signatures (LMS/XMSS).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NIST FIPS 203 / 204 / 205: </a:t>
            </a:r>
            <a:r>
              <a:rPr sz="1000">
                <a:solidFill>
                  <a:srgbClr val="94A3B8"/>
                </a:solidFill>
              </a:rPr>
              <a:t>NIST finalized standards: ML-KEM (Kyber), ML-DSA (Dilithium), and SLH-DSA (SPHINCS+).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16636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C084FC"/>
                </a:solidFill>
                <a:latin typeface="Arial"/>
              </a:defRPr>
            </a:pPr>
            <a:r>
              <a:t>Continuous Enterprise Governance Controls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Digital Signatures on Every Rotation: </a:t>
            </a:r>
            <a:r>
              <a:rPr sz="1000">
                <a:solidFill>
                  <a:srgbClr val="94A3B8"/>
                </a:solidFill>
              </a:rPr>
              <a:t>Cryptographically signs and verifies every key update and certificate transition.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Complete Audit Trail for AO &amp; IG: </a:t>
            </a:r>
            <a:r>
              <a:rPr sz="1000">
                <a:solidFill>
                  <a:srgbClr val="94A3B8"/>
                </a:solidFill>
              </a:rPr>
              <a:t>Tamper-evident event logs prepared for Authorizing Officials and Inspector General audits.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Continuous Policy Enforcement: </a:t>
            </a:r>
            <a:r>
              <a:rPr sz="1000">
                <a:solidFill>
                  <a:srgbClr val="94A3B8"/>
                </a:solidFill>
              </a:rPr>
              <a:t>OPA/Rego policy-as-code evaluates every asset continuously—not a quarterly checkbox.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Cryptographic Dependency Mapping: </a:t>
            </a:r>
            <a:r>
              <a:rPr sz="1000">
                <a:solidFill>
                  <a:srgbClr val="94A3B8"/>
                </a:solidFill>
              </a:rPr>
              <a:t>Visualizes software and service dependencies so your Change Control Board knows what breaks before you act.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Drift &amp; Rogue Key Detection: </a:t>
            </a:r>
            <a:r>
              <a:rPr sz="1000">
                <a:solidFill>
                  <a:srgbClr val="94A3B8"/>
                </a:solidFill>
              </a:rPr>
              <a:t>Instantly alerts on newly introduced weak ciphers or unauthorized certificates.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0B13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400"/>
              </a:spcAft>
              <a:defRPr b="1" sz="1100">
                <a:solidFill>
                  <a:srgbClr val="34D399"/>
                </a:solidFill>
                <a:latin typeface="Arial"/>
              </a:defRPr>
            </a:pPr>
            <a:r>
              <a:t>🛡️ CISO Close</a:t>
            </a:r>
          </a:p>
          <a:p>
            <a:pPr>
              <a:defRPr i="1" sz="1050">
                <a:solidFill>
                  <a:srgbClr val="FFFFFF"/>
                </a:solidFill>
                <a:latin typeface="Arial"/>
              </a:defRPr>
            </a:pPr>
            <a:r>
              <a:t>"When your auditor asks for your PQC posture in 2026, this is the evidence package."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SLIDE 8  •  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ROI and Risk of Inaction: The Business Case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Make the business case explicit: replacing six-figure consulting engagements with automated software.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86200"/>
                <a:gridCol w="388620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Manual / Status Quo Approach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2FE"/>
                          </a:solidFill>
                        </a:defRPr>
                      </a:pPr>
                      <a:r>
                        <a:t>QuarkShield Automated Platform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Crypto Discovery</a:t>
                      </a:r>
                    </a:p>
                  </a:txBody>
                  <a:tcPr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3 – 6 Months (Manual Audits)</a:t>
                      </a:r>
                    </a:p>
                  </a:txBody>
                  <a:tcPr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Hours (Automated Discovery)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External Consultant Cost</a:t>
                      </a:r>
                    </a:p>
                  </a:txBody>
                  <a:tcPr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$50,000 – $500,000 in Professional Services</a:t>
                      </a:r>
                    </a:p>
                  </a:txBody>
                  <a:tcPr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$2,500 Assessment / SaaS Subscription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Compliance Audit Evidence</a:t>
                      </a:r>
                    </a:p>
                  </a:txBody>
                  <a:tcPr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None or Stale, Ad-Hoc Spreadsheets</a:t>
                      </a:r>
                    </a:p>
                  </a:txBody>
                  <a:tcPr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Continuous, Automated CycloneDX 1.6 CBOM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CNSA 2.0 Gap Visibility</a:t>
                      </a:r>
                    </a:p>
                  </a:txBody>
                  <a:tcPr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Unknown / Subjective Consultant Guesses</a:t>
                      </a:r>
                    </a:p>
                  </a:txBody>
                  <a:tcPr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Real-Time Executive &amp; Technical Dashboard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of Audit Finding</a:t>
                      </a:r>
                    </a:p>
                  </a:txBody>
                  <a:tcPr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High (Incomplete asset inventory)</a:t>
                      </a:r>
                    </a:p>
                  </a:txBody>
                  <a:tcPr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Dramatically Reduced &amp; Defensible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663440"/>
            <a:ext cx="5166360" cy="1645920"/>
          </a:xfrm>
          <a:prstGeom prst="roundRect">
            <a:avLst/>
          </a:prstGeom>
          <a:solidFill>
            <a:srgbClr val="0B1324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400"/>
              </a:spcAft>
              <a:defRPr b="1" sz="1100">
                <a:solidFill>
                  <a:srgbClr val="00F2FE"/>
                </a:solidFill>
                <a:latin typeface="Arial"/>
              </a:defRPr>
            </a:pPr>
            <a:r>
              <a:t>💼 CIO Business Frame</a:t>
            </a:r>
          </a:p>
          <a:p>
            <a:pPr>
              <a:defRPr i="1" sz="1050">
                <a:solidFill>
                  <a:srgbClr val="FFFFFF"/>
                </a:solidFill>
                <a:latin typeface="Arial"/>
              </a:defRPr>
            </a:pPr>
            <a:r>
              <a:t>"This replaces a six-figure consulting engagement with a SaaS subscription."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4663440"/>
            <a:ext cx="5166360" cy="1645920"/>
          </a:xfrm>
          <a:prstGeom prst="roundRect">
            <a:avLst/>
          </a:prstGeom>
          <a:solidFill>
            <a:srgbClr val="0B13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400"/>
              </a:spcAft>
              <a:defRPr b="1" sz="1100">
                <a:solidFill>
                  <a:srgbClr val="FBBF24"/>
                </a:solidFill>
                <a:latin typeface="Arial"/>
              </a:defRPr>
            </a:pPr>
            <a:r>
              <a:t>⚠️ CISO Strategic Frame</a:t>
            </a:r>
          </a:p>
          <a:p>
            <a:pPr>
              <a:defRPr i="1" sz="1050">
                <a:solidFill>
                  <a:srgbClr val="FFFFFF"/>
                </a:solidFill>
                <a:latin typeface="Arial"/>
              </a:defRPr>
            </a:pPr>
            <a:r>
              <a:t>"Non-compliance with CNSA 2.0 isn't a fine — it's a mission impact event."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SLIDE 9  •  COMMERCIAL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Business Model &amp; How to Buy: Commercial Tiers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Predictable subscription tiers designed for rapid adoption, enterprise expansion, and MSP partners.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146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0F2FE"/>
                </a:solidFill>
                <a:latin typeface="Arial"/>
              </a:defRPr>
            </a:pPr>
            <a:r>
              <a:t>PQC Assessment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Price: </a:t>
            </a:r>
            <a:r>
              <a:rPr sz="1000">
                <a:solidFill>
                  <a:srgbClr val="94A3B8"/>
                </a:solidFill>
              </a:rPr>
              <a:t>$200 / Month  (5 Seat Licenses)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One-Time Audit: </a:t>
            </a:r>
            <a:r>
              <a:rPr sz="1000">
                <a:solidFill>
                  <a:srgbClr val="94A3B8"/>
                </a:solidFill>
              </a:rPr>
              <a:t>$2,500 Executive Snapshot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Included Scope: </a:t>
            </a:r>
            <a:r>
              <a:rPr sz="1000">
                <a:solidFill>
                  <a:srgbClr val="94A3B8"/>
                </a:solidFill>
              </a:rPr>
              <a:t>5 Endpoint seat licenses with unlimited local host scans.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Deliverable: </a:t>
            </a:r>
            <a:r>
              <a:rPr sz="1000">
                <a:solidFill>
                  <a:srgbClr val="94A3B8"/>
                </a:solidFill>
              </a:rPr>
              <a:t>Executive Quantum Risk Score, migration roadmap, and baseline CBOM JSON.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Best For: </a:t>
            </a:r>
            <a:r>
              <a:rPr sz="1000">
                <a:solidFill>
                  <a:srgbClr val="94A3B8"/>
                </a:solidFill>
              </a:rPr>
              <a:t>Initial baseline audit and board-level risk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828800"/>
            <a:ext cx="25146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FBBF24"/>
                </a:solidFill>
                <a:latin typeface="Arial"/>
              </a:defRPr>
            </a:pPr>
            <a:r>
              <a:t>Growth Fleet (SaaS)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Price: </a:t>
            </a:r>
            <a:r>
              <a:rPr sz="1000">
                <a:solidFill>
                  <a:srgbClr val="94A3B8"/>
                </a:solidFill>
              </a:rPr>
              <a:t>Annual Plan: $5,000 / Year ($500/mo)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Included Capacity: </a:t>
            </a:r>
            <a:r>
              <a:rPr sz="1000">
                <a:solidFill>
                  <a:srgbClr val="94A3B8"/>
                </a:solidFill>
              </a:rPr>
              <a:t>Up to 50 Host Endpoints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Central Management: </a:t>
            </a:r>
            <a:r>
              <a:rPr sz="1000">
                <a:solidFill>
                  <a:srgbClr val="94A3B8"/>
                </a:solidFill>
              </a:rPr>
              <a:t>Cloud Fleet Central Plane with real-time telemetry aggregation.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Continuous Monitoring: </a:t>
            </a:r>
            <a:r>
              <a:rPr sz="1000">
                <a:solidFill>
                  <a:srgbClr val="94A3B8"/>
                </a:solidFill>
              </a:rPr>
              <a:t>Automated drift detection, group enrollment tokens, and email alerts.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Compliance Output: </a:t>
            </a:r>
            <a:r>
              <a:rPr sz="1000">
                <a:solidFill>
                  <a:srgbClr val="94A3B8"/>
                </a:solidFill>
              </a:rPr>
              <a:t>Continuous CycloneDX 1.6 CBOM and CSV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828800"/>
            <a:ext cx="25146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Enterprise Pro (SaaS)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Price: </a:t>
            </a:r>
            <a:r>
              <a:rPr sz="1000">
                <a:solidFill>
                  <a:srgbClr val="94A3B8"/>
                </a:solidFill>
              </a:rPr>
              <a:t>Annual Plan: $12,000 / Year ($1,200/mo)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Included Capacity: </a:t>
            </a:r>
            <a:r>
              <a:rPr sz="1000">
                <a:solidFill>
                  <a:srgbClr val="94A3B8"/>
                </a:solidFill>
              </a:rPr>
              <a:t>Up to 250 Endpoints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Remote Git Scanner: </a:t>
            </a:r>
            <a:r>
              <a:rPr sz="1000">
                <a:solidFill>
                  <a:srgbClr val="94A3B8"/>
                </a:solidFill>
              </a:rPr>
              <a:t>Direct GitHub &amp; Bitbucket repository scanner via PAT/OAuth (Separate license tier included).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QS Copilot AI: </a:t>
            </a:r>
            <a:r>
              <a:rPr sz="1000">
                <a:solidFill>
                  <a:srgbClr val="94A3B8"/>
                </a:solidFill>
              </a:rPr>
              <a:t>Full AI remediation advisor with offline/SCIF air-gapped support.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Tenant Isolation: </a:t>
            </a:r>
            <a:r>
              <a:rPr sz="1000">
                <a:solidFill>
                  <a:srgbClr val="94A3B8"/>
                </a:solidFill>
              </a:rPr>
              <a:t>Dedicated tenant subdomain (company.quarkshield.ai) and 2FA policies.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828800"/>
            <a:ext cx="25146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C084FC"/>
                </a:solidFill>
                <a:latin typeface="Arial"/>
              </a:defRPr>
            </a:pPr>
            <a:r>
              <a:t>MSP &amp; Migration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Price: </a:t>
            </a:r>
            <a:r>
              <a:rPr sz="1000">
                <a:solidFill>
                  <a:srgbClr val="94A3B8"/>
                </a:solidFill>
              </a:rPr>
              <a:t>Custom Volume / MSP Tier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Multi-Tenant Console: </a:t>
            </a:r>
            <a:r>
              <a:rPr sz="1000">
                <a:solidFill>
                  <a:srgbClr val="94A3B8"/>
                </a:solidFill>
              </a:rPr>
              <a:t>Partner umbrella portal managing dozens of client organizations.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Pooled Licenses: </a:t>
            </a:r>
            <a:r>
              <a:rPr sz="1000">
                <a:solidFill>
                  <a:srgbClr val="94A3B8"/>
                </a:solidFill>
              </a:rPr>
              <a:t>500 – 2,500+ seat authorization pools for customer distribution.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Dedicated Engineer: </a:t>
            </a:r>
            <a:r>
              <a:rPr sz="1000">
                <a:solidFill>
                  <a:srgbClr val="94A3B8"/>
                </a:solidFill>
              </a:rPr>
              <a:t>Senior cryptographic engineering support and live re-keying playbooks.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Co-Branding: </a:t>
            </a:r>
            <a:r>
              <a:rPr sz="1000">
                <a:solidFill>
                  <a:srgbClr val="94A3B8"/>
                </a:solidFill>
              </a:rPr>
              <a:t>White-labeled executive PQC audit reports for MSP clients.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SLIDE 10  •  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Take Action Before the Deadline: Call to Action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The transition timeline is running. Establish your authoritative cryptographic inventory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1188720"/>
          </a:xfrm>
          <a:prstGeom prst="roundRect">
            <a:avLst/>
          </a:prstGeom>
          <a:solidFill>
            <a:srgbClr val="0C16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b="1" sz="1100">
                <a:solidFill>
                  <a:srgbClr val="00F2FE"/>
                </a:solidFill>
              </a:defRPr>
            </a:pPr>
            <a:r>
              <a:t>MIGRATION TIMELINE ENFORCEMENT HORIZON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TODAY (2026): Discover baseline inventory &amp; CBOM (OMB M-23-02)   ➔   JAN 1, 2027: Mandatory PQC on new NSS (NSM-10 / CNSA 2.0)   ➔   DEC 2030: Full Transition Deadline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6217920" cy="3200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Clear Ask — Pick One of These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Option 1: Free 30-Day Trial: </a:t>
            </a:r>
            <a:r>
              <a:rPr sz="1000">
                <a:solidFill>
                  <a:srgbClr val="94A3B8"/>
                </a:solidFill>
              </a:rPr>
              <a:t>"Start a free 30-day trial at quarkshield.ai — no credit card, see your own inventory in minutes."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Option 2: Technical Deep-Dive: </a:t>
            </a:r>
            <a:r>
              <a:rPr sz="1000">
                <a:solidFill>
                  <a:srgbClr val="94A3B8"/>
                </a:solidFill>
              </a:rPr>
              <a:t>"Schedule a 1-hour technical deep-dive with your security team and our senior post-quantum engineers."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Option 3: Free Crypto Scan: </a:t>
            </a:r>
            <a:r>
              <a:rPr sz="1000">
                <a:solidFill>
                  <a:srgbClr val="94A3B8"/>
                </a:solidFill>
              </a:rPr>
              <a:t>"Let us run a free crypto scan of one environment segment, active TLS domain, or Git repository."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108960"/>
            <a:ext cx="4297680" cy="3200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0F2FE"/>
                </a:solidFill>
                <a:latin typeface="Arial"/>
              </a:defRPr>
            </a:pPr>
            <a:r>
              <a:t>Leadership Contact &amp; Engagement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Executive Contact: </a:t>
            </a:r>
            <a:r>
              <a:rPr sz="1000">
                <a:solidFill>
                  <a:srgbClr val="94A3B8"/>
                </a:solidFill>
              </a:rPr>
              <a:t>GS Sridhar | Founder &amp; Principal Architect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Telephone Direct: </a:t>
            </a:r>
            <a:r>
              <a:rPr sz="1000">
                <a:solidFill>
                  <a:srgbClr val="94A3B8"/>
                </a:solidFill>
              </a:rPr>
              <a:t>571-274-9672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Email Direct: </a:t>
            </a:r>
            <a:r>
              <a:rPr sz="1000">
                <a:solidFill>
                  <a:srgbClr val="94A3B8"/>
                </a:solidFill>
              </a:rPr>
              <a:t>sridhargs@gmail.com | sales@quarkshield.ai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Enterprise Portal: </a:t>
            </a:r>
            <a:r>
              <a:rPr sz="1000">
                <a:solidFill>
                  <a:srgbClr val="94A3B8"/>
                </a:solidFill>
              </a:rPr>
              <a:t>https://quarkshield.ai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Headquarters: </a:t>
            </a:r>
            <a:r>
              <a:rPr sz="1000">
                <a:solidFill>
                  <a:srgbClr val="94A3B8"/>
                </a:solidFill>
              </a:rPr>
              <a:t>Washington, D.C. Metropolitan Area</a:t>
            </a:r>
          </a:p>
          <a:p>
            <a:pPr>
              <a:spcAft>
                <a:spcPts val="450"/>
              </a:spcAft>
              <a:defRPr>
                <a:latin typeface="Arial"/>
              </a:defRPr>
            </a:pPr>
            <a:r>
              <a:rPr b="1" sz="1000">
                <a:solidFill>
                  <a:srgbClr val="FFFFFF"/>
                </a:solidFill>
              </a:rPr>
              <a:t>•  Pedigree: </a:t>
            </a:r>
            <a:r>
              <a:rPr sz="1000">
                <a:solidFill>
                  <a:srgbClr val="94A3B8"/>
                </a:solidFill>
              </a:rPr>
              <a:t>FedMitigate LLC / Defense Cryptography Specialization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