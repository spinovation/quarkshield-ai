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Who We Serve</a:t>
            </a:r>
          </a:p>
          <a:p>
            <a:pPr>
              <a:defRPr sz="1300">
                <a:solidFill>
                  <a:srgbClr val="06B6D4"/>
                </a:solidFill>
                <a:latin typeface="Calibri"/>
              </a:defRPr>
            </a:pPr>
            <a:r>
              <a:t>Securing High-Value Cryptographic Infrastructure Across Defense, Enterprise &amp; MSPs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621792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64208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alibri"/>
              </a:defRPr>
            </a:pPr>
            <a:r>
              <a:t>■  DEFENSE &amp; FEDERAL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DoD Contractors &amp; Federal Suppliers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Aerospace primes, defense manufacturers, research labs, and mission systems carrying NSM-10 &amp; CNSA 2.0 flow-downs—mandated to discover and eradicate harvest-now-decrypt-later (HNDL) cryptographic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621792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Calibri"/>
              </a:defRPr>
            </a:pPr>
            <a:r>
              <a:t>■  FINANCIAL &amp; ENTERPRISE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Banking, Fintech &amp; Healthcare Enterprises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Global financial institutions and healthcare networks holding data with 10+ year confidentiality shelf-life, facing mathematical obsolescence of RSA/ECC in public TLS endpoints, payment gateways, and client keystores.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621792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56048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C084FC"/>
                </a:solidFill>
                <a:latin typeface="Calibri"/>
              </a:defRPr>
            </a:pPr>
            <a:r>
              <a:t>■  MSPS &amp; CONSULTANCIES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MSPs, MSSPs &amp; vCISO Advisory Primes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Managed service providers and cybersecurity consultancies managing multi-client post-quantum readiness assessments across hundreds of tenant environments via the isolated multi-client partner portal.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554480"/>
            <a:ext cx="4114800" cy="4754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82880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Calibri"/>
              </a:defRPr>
            </a:pPr>
            <a:r>
              <a:t>CORE MISSION GOVERNANCE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Addressing the Quantum Transition Mandate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NSA CNSA 2.0 Compliance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Mandates discovery and deprecation of legacy public-key algorithms starting immediately through 2030.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NIST FIPS 203, 204 &amp; 205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Standardizes post-quantum algorithms: ML-KEM (Kyber), ML-DSA (Dilithium), and SLH-DSA (SPHINCS+).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Store-Now-Decrypt-Later (SNDL)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Adversaries intercept and archive encrypted data today to decrypt once quantum computing is viable.</a:t>
            </a:r>
          </a:p>
          <a:p>
            <a:pPr>
              <a:spcBef>
                <a:spcPts val="1000"/>
              </a:spcBef>
              <a:defRPr sz="1100" b="1">
                <a:solidFill>
                  <a:srgbClr val="F59E0B"/>
                </a:solidFill>
                <a:latin typeface="Calibri"/>
              </a:defRPr>
            </a:pPr>
            <a:r>
              <a:t>• Mosca's Theorem (X + Y &gt; Z)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If migration time (X) plus data shelf-life (Y) exceeds the time to a quantum computer (Z), data is already compromised.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© 2026 QuarkShield Inc. All rights reserved. Post-Quantum Cryptography Observability &amp; Fleet Defense.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Platform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1874519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35608"/>
            <a:ext cx="165506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☁️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Cloud SaaS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With isolated per-tenant containers for partners &amp; enterprise fleets</a:t>
            </a:r>
          </a:p>
          <a:p>
            <a:pPr algn="ctr">
              <a:spcBef>
                <a:spcPts val="600"/>
              </a:spcBef>
              <a:defRPr sz="800" b="1">
                <a:solidFill>
                  <a:srgbClr val="06B6D4"/>
                </a:solidFill>
                <a:latin typeface="Calibri"/>
              </a:defRPr>
            </a:pPr>
            <a:r>
              <a:t>[Live Multi-Tenant]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19" y="1325880"/>
            <a:ext cx="1874519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8647" y="1435608"/>
            <a:ext cx="165506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💻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Licensed Desktop Clients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Signed native agents for Windows, macOS (Apple/Intel) &amp; Linux</a:t>
            </a:r>
          </a:p>
          <a:p>
            <a:pPr algn="ctr">
              <a:spcBef>
                <a:spcPts val="600"/>
              </a:spcBef>
              <a:defRPr sz="800" b="1">
                <a:solidFill>
                  <a:srgbClr val="06B6D4"/>
                </a:solidFill>
                <a:latin typeface="Calibri"/>
              </a:defRPr>
            </a:pPr>
            <a:r>
              <a:t>[Cross-Platform]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18" y="1325880"/>
            <a:ext cx="1874519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6046" y="1435608"/>
            <a:ext cx="165506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🌐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Residency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Customer-selectable: Cloud SaaS, dedicated VPC, or local on-prem server</a:t>
            </a:r>
          </a:p>
          <a:p>
            <a:pPr algn="ctr">
              <a:spcBef>
                <a:spcPts val="600"/>
              </a:spcBef>
              <a:defRPr sz="800" b="1">
                <a:solidFill>
                  <a:srgbClr val="06B6D4"/>
                </a:solidFill>
                <a:latin typeface="Calibri"/>
              </a:defRPr>
            </a:pPr>
            <a:r>
              <a:t>[Sovereign Enclave]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874519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950208"/>
            <a:ext cx="165506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①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Level 1 (Partner)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30/60-day evaluations with delegated multi-client management (50 seats)</a:t>
            </a:r>
          </a:p>
          <a:p>
            <a:pPr algn="ctr">
              <a:spcBef>
                <a:spcPts val="600"/>
              </a:spcBef>
              <a:defRPr sz="800" b="1">
                <a:solidFill>
                  <a:srgbClr val="06B6D4"/>
                </a:solidFill>
                <a:latin typeface="Calibri"/>
              </a:defRPr>
            </a:pPr>
            <a:r>
              <a:t>[Extended Trials]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19" y="3840480"/>
            <a:ext cx="1874519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7" y="3950208"/>
            <a:ext cx="165506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②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Level 2 (Corporate)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Production fleets (100–50k+ seats) with silent GPO / MDM orchestration</a:t>
            </a:r>
          </a:p>
          <a:p>
            <a:pPr algn="ctr">
              <a:spcBef>
                <a:spcPts val="600"/>
              </a:spcBef>
              <a:defRPr sz="800" b="1">
                <a:solidFill>
                  <a:srgbClr val="06B6D4"/>
                </a:solidFill>
                <a:latin typeface="Calibri"/>
              </a:defRPr>
            </a:pPr>
            <a:r>
              <a:t>[Enterprise Fleets]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18" y="3840480"/>
            <a:ext cx="1874519" cy="2286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6" y="3950208"/>
            <a:ext cx="1655063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⭐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Partner Pro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  <a:latin typeface="Calibri"/>
              </a:defRPr>
            </a:pPr>
            <a:r>
              <a:t>Air-gapped verification, HMAC offline tokens, and dedicated tenant ports</a:t>
            </a:r>
          </a:p>
          <a:p>
            <a:pPr algn="ctr">
              <a:spcBef>
                <a:spcPts val="600"/>
              </a:spcBef>
              <a:defRPr sz="800" b="1">
                <a:solidFill>
                  <a:srgbClr val="06B6D4"/>
                </a:solidFill>
                <a:latin typeface="Calibri"/>
              </a:defRPr>
            </a:pPr>
            <a:r>
              <a:t>[Full Governance]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280160"/>
            <a:ext cx="4389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Available Now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Cross-Platform Desktop &amp; Fleet Scanner (Windows, macOS, Linux)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CycloneDX 1.6 Cryptographic BOM (CBOM) Explorer &amp; JSON Export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Multi-Vector Discovery Engine (Remote GitHub/Bitbucket &amp; TLS Prober)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Mosca's Migration Planner &amp; Risk Horizon Calculator (X + Y &gt; Z)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PQC Copilot AI Assistant (Automated remediation &amp; NIST code patches)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Multi-Tenant Partner &amp; Enterprise Portals (Isolated workspaces &amp; RBAC)</a:t>
            </a:r>
          </a:p>
          <a:p>
            <a:pPr>
              <a:spcBef>
                <a:spcPts val="400"/>
              </a:spcBef>
              <a:defRPr sz="1000">
                <a:solidFill>
                  <a:srgbClr val="E2E8F0"/>
                </a:solidFill>
                <a:latin typeface="Calibri"/>
              </a:defRPr>
            </a:pPr>
            <a:r>
              <a:t>• Cloud Automated Mailer (Instant license delivery via Resend API)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 Progress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• CI/CD Pipeline CBOM Scanner </a:t>
            </a:r>
            <a:r>
              <a:rPr i="1" sz="900">
                <a:solidFill>
                  <a:srgbClr val="F59E0B"/>
                </a:solidFill>
              </a:rPr>
              <a:t>(GitHub Actions &amp; GitLab CI PR security gate (in testing))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• Enterprise PKI &amp; Vault Connectors </a:t>
            </a:r>
            <a:r>
              <a:rPr i="1" sz="900">
                <a:solidFill>
                  <a:srgbClr val="F59E0B"/>
                </a:solidFill>
              </a:rPr>
              <a:t>(Active Directory CS &amp; HashiCorp sync (in development))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• Hybrid Post-Quantum TLS Proxy </a:t>
            </a:r>
            <a:r>
              <a:rPr i="1" sz="900">
                <a:solidFill>
                  <a:srgbClr val="F59E0B"/>
                </a:solidFill>
              </a:rPr>
              <a:t>(Transparent proxy upgrading legacy traffic (in design))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© 2026 QuarkShield Inc. All rights reserved. Post-Quantum Cryptography Discovery &amp; Fleet Vulnerability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